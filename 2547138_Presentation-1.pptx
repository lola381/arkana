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59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embeddedFontLst>
    <p:embeddedFont>
      <p:font typeface="Archivo Narrow" panose="020B0604020202020204" charset="0"/>
      <p:regular r:id="rId17"/>
      <p:bold r:id="rId18"/>
      <p:italic r:id="rId19"/>
      <p:boldItalic r:id="rId20"/>
    </p:embeddedFont>
    <p:embeddedFont>
      <p:font typeface="Archivo Narrow Medium" panose="020B0604020202020204" charset="0"/>
      <p:regular r:id="rId21"/>
      <p:bold r:id="rId22"/>
      <p:italic r:id="rId23"/>
      <p:boldItalic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IBM Plex Sans Condensed" panose="020B0506050203000203" pitchFamily="34" charset="0"/>
      <p:regular r:id="rId29"/>
      <p:bold r:id="rId30"/>
      <p:italic r:id="rId31"/>
      <p:boldItalic r:id="rId32"/>
    </p:embeddedFont>
    <p:embeddedFont>
      <p:font typeface="Yellowtail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59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0503800d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0503800d2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30503800d2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f372a8d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ef372a8d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eef372a8d0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415600" y="1886797"/>
            <a:ext cx="113607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450" y="-30350"/>
            <a:ext cx="12209100" cy="7371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9325" y="154075"/>
            <a:ext cx="12216600" cy="12825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763550" y="-30350"/>
            <a:ext cx="868800" cy="1467000"/>
          </a:xfrm>
          <a:prstGeom prst="parallelogram">
            <a:avLst>
              <a:gd name="adj" fmla="val 57856"/>
            </a:avLst>
          </a:prstGeom>
          <a:solidFill>
            <a:srgbClr val="D2AE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4000" y="-30350"/>
            <a:ext cx="3841800" cy="1488900"/>
          </a:xfrm>
          <a:prstGeom prst="parallelogram">
            <a:avLst>
              <a:gd name="adj" fmla="val 339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-9325" y="6604519"/>
            <a:ext cx="12216600" cy="2598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-9325" y="5899575"/>
            <a:ext cx="12216600" cy="7371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381000" y="5899575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191000" y="5899575"/>
            <a:ext cx="3810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8572600" y="5899575"/>
            <a:ext cx="2983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32" name="Google Shape;32;p2" title="CU logo GBT_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4061" y="329612"/>
            <a:ext cx="3118595" cy="1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1585175" y="6515100"/>
            <a:ext cx="5328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4156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64432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-2833" y="-25"/>
            <a:ext cx="122067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70782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096000" y="272150"/>
            <a:ext cx="6096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15600" y="5773325"/>
            <a:ext cx="79983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91079" y="725951"/>
            <a:ext cx="103251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691079" y="2340131"/>
            <a:ext cx="103251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marL="914400" lvl="1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marL="1371600" lvl="2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marL="1828800" lvl="3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1003649" y="6215870"/>
            <a:ext cx="979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356875"/>
            <a:ext cx="11360700" cy="4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sz="28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sz="26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-9719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15550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50" y="6387300"/>
            <a:ext cx="12192000" cy="3534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-462626">
            <a:off x="8825224" y="6371287"/>
            <a:ext cx="1824597" cy="4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sz="1600" b="0" i="0" u="none" strike="noStrike" cap="non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1"/>
          <p:cNvSpPr txBox="1"/>
          <p:nvPr/>
        </p:nvSpPr>
        <p:spPr>
          <a:xfrm rot="1419">
            <a:off x="6067858" y="6448425"/>
            <a:ext cx="290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sz="1400" b="0" i="0" u="none" strike="noStrike" cap="non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1" title="CU logo crest Gold.png"/>
          <p:cNvPicPr preferRelativeResize="0"/>
          <p:nvPr/>
        </p:nvPicPr>
        <p:blipFill>
          <a:blip r:embed="rId14">
            <a:alphaModFix amt="3000"/>
          </a:blip>
          <a:stretch>
            <a:fillRect/>
          </a:stretch>
        </p:blipFill>
        <p:spPr>
          <a:xfrm>
            <a:off x="8140250" y="2136400"/>
            <a:ext cx="3984660" cy="3968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pedia.org/" TargetMode="External"/><Relationship Id="rId2" Type="http://schemas.openxmlformats.org/officeDocument/2006/relationships/hyperlink" Target="https://asi.nic.i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tsandculture.google.com/" TargetMode="External"/><Relationship Id="rId4" Type="http://schemas.openxmlformats.org/officeDocument/2006/relationships/hyperlink" Target="https://www.unesco.org/en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617550" y="2313225"/>
            <a:ext cx="51708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415650" y="2068788"/>
            <a:ext cx="11360700" cy="933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dirty="0"/>
              <a:t>Arkana - Grounded AI for Historical and Cultural Exploration</a:t>
            </a:r>
            <a:endParaRPr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397302" y="2777657"/>
            <a:ext cx="11360700" cy="236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Specialization Project Presentation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/>
              <a:t>By</a:t>
            </a:r>
            <a:endParaRPr sz="2200" dirty="0"/>
          </a:p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/>
              <a:t>Abhishek Singh (2547103), Arjit Singhal (2547113), Nilesh Gupta(2547138)</a:t>
            </a:r>
            <a:endParaRPr sz="2200" dirty="0"/>
          </a:p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/>
              <a:t>Project Guide</a:t>
            </a:r>
            <a:endParaRPr sz="2200" dirty="0"/>
          </a:p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/>
              <a:t>Dr. </a:t>
            </a:r>
            <a:r>
              <a:rPr lang="en-US" sz="2200" b="1" dirty="0"/>
              <a:t>Kavitha R</a:t>
            </a:r>
            <a:endParaRPr sz="2200" b="1" dirty="0"/>
          </a:p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547325" y="5078326"/>
            <a:ext cx="11360700" cy="772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Narrow"/>
              <a:buNone/>
            </a:pPr>
            <a:r>
              <a:rPr lang="en-GB" sz="2200" b="1"/>
              <a:t>Department of Computer Science</a:t>
            </a:r>
            <a:endParaRPr sz="2200" b="1"/>
          </a:p>
          <a:p>
            <a:pPr marL="457200" lvl="0" indent="-3683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Narrow"/>
              <a:buNone/>
            </a:pPr>
            <a:r>
              <a:rPr lang="en-GB" sz="2200" b="1"/>
              <a:t>CHRIST(Deemed to be University), Bengaluru-29</a:t>
            </a:r>
            <a:endParaRPr sz="2200" b="1"/>
          </a:p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415650" y="40618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Introduction</a:t>
            </a:r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>
            <a:off x="0" y="1177094"/>
            <a:ext cx="5448300" cy="4672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Arkana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Retrieval-Augmented Generation (RAG) platform designed to make India's vast historical, cultural, and architectural heritage accessible through accurate, citation-backed conversations and an interactive geographic atlas.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is home to more than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37,000 documented monuments and heritage sites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thousands of traditional art forms, archaeological records, museum collections, and historical manuscripts.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information is dispersed across numerous repositories, including government archives, museum collections, with each source varying in structure, completeness, and accessibility.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obtaining comprehensive and reliable information often requires consulting multiple independent resources, making heritage exploration difficult for researchers, students, and the general public.</a:t>
            </a:r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D636F4-B218-166C-6B6A-E4C2C333F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741" y="1051756"/>
            <a:ext cx="67437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Analysis Phase</a:t>
            </a:r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spcAft>
                <a:spcPts val="1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Existing System: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(ASI website, Wikipedia, Google Arts &amp; Culture) offer fragmented, unverified information about Indian heritage sites. None provide grounded, citation-backed conversational access. AI systems like ChatGPT hallucinate heritage facts without citing verified sources.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citation-grounded answers; information scattered across 37,000+ sites; no geographic atlas integration; no natural-language query support; AI hallucination without verified retrieval; no machine-readable unified knowledge base.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Proposed System: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RAG-powered conversational Q&amp;A with source citations; interactive Leaflet.js heritage atlas; unified data from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Wikidata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Wikipedia, UNESCO, OSM; semantic chunking and hybrid vector + FTS retrieval; image-based artifact identification via CLIP; grounded LLM responses.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Q&amp;A on heritage sites; geographic map exploration; citation-linked answers; image-based artifact search; multi-source data ingestion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Wikidata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Wikipedia, UNESCO, OSM); streamed LLM responses.</a:t>
            </a:r>
          </a:p>
          <a:p>
            <a:pPr marL="285750" indent="-285750">
              <a:spcBef>
                <a:spcPts val="1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retrieval latency p50 &lt; 4 seconds; supports ~37,000 heritage site records; open-licensed data only (CC BY-SA, CC0,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ODbL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scalable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containerised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(Docker); retrieval precision &gt;85% on golden test set; zero hallucination guarantee via citation grounding.</a:t>
            </a:r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0DD0-E46E-8E2A-7587-BBA823E7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SDG Goals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29B63-F728-ECC3-DE6D-5FEA93435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92900"/>
            <a:ext cx="9343622" cy="4672200"/>
          </a:xfrm>
        </p:spPr>
        <p:txBody>
          <a:bodyPr/>
          <a:lstStyle/>
          <a:p>
            <a:pPr marL="50800" indent="0">
              <a:buNone/>
            </a:pPr>
            <a:r>
              <a:rPr lang="en-IN" sz="2400" b="1" dirty="0"/>
              <a:t>SDG 4 – Quality Education</a:t>
            </a:r>
          </a:p>
          <a:p>
            <a:r>
              <a:rPr lang="en-IN" sz="2400" dirty="0"/>
              <a:t>Provides free, AI-powered access to India's cultural heritage. </a:t>
            </a:r>
          </a:p>
          <a:p>
            <a:r>
              <a:rPr lang="en-IN" sz="2400" dirty="0"/>
              <a:t>Delivers citation-backed information from trusted sources. </a:t>
            </a:r>
          </a:p>
          <a:p>
            <a:r>
              <a:rPr lang="en-IN" sz="2400" dirty="0"/>
              <a:t>Supports students, researchers, educators, and lifelong learners. </a:t>
            </a:r>
          </a:p>
          <a:p>
            <a:pPr marL="50800" indent="0">
              <a:buNone/>
            </a:pPr>
            <a:r>
              <a:rPr lang="en-IN" sz="2400" b="1" dirty="0"/>
              <a:t>SDG 11 – Sustainable Cities &amp; Communities</a:t>
            </a:r>
          </a:p>
          <a:p>
            <a:r>
              <a:rPr lang="en-IN" sz="2400" dirty="0"/>
              <a:t>Digitally preserves and promotes India's historical heritage. </a:t>
            </a:r>
          </a:p>
          <a:p>
            <a:r>
              <a:rPr lang="en-IN" sz="2400" dirty="0"/>
              <a:t>Interactive heritage atlas encourages cultural awareness and tourism. </a:t>
            </a:r>
          </a:p>
          <a:p>
            <a:r>
              <a:rPr lang="en-IN" sz="2400" dirty="0"/>
              <a:t>Improves public accessibility to heritage information. </a:t>
            </a:r>
          </a:p>
          <a:p>
            <a:pPr marL="50800" indent="0">
              <a:buNone/>
            </a:pPr>
            <a:r>
              <a:rPr lang="en-IN" sz="2400" b="1" dirty="0"/>
              <a:t>SDG 17 – Partnerships for the Goals</a:t>
            </a:r>
          </a:p>
          <a:p>
            <a:r>
              <a:rPr lang="en-IN" sz="2400" dirty="0"/>
              <a:t>Integrates data from Wikipedia, </a:t>
            </a:r>
            <a:r>
              <a:rPr lang="en-IN" sz="2400" dirty="0" err="1"/>
              <a:t>Wikidata</a:t>
            </a:r>
            <a:r>
              <a:rPr lang="en-IN" sz="2400" dirty="0"/>
              <a:t>, UNESCO, and OpenStreetMap. </a:t>
            </a:r>
          </a:p>
          <a:p>
            <a:r>
              <a:rPr lang="en-IN" sz="2400" dirty="0"/>
              <a:t>Demonstrates collaboration through open-data platforms. </a:t>
            </a:r>
          </a:p>
          <a:p>
            <a:r>
              <a:rPr lang="en-IN" sz="2400" dirty="0"/>
              <a:t>Encourages knowledge sharing and sustainable digital heritage preservation.</a:t>
            </a: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121E1-C998-0D3C-CAAB-BD7DDFA2F0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37DE14-C56C-EA41-D840-6C5FC1EB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100" y="686773"/>
            <a:ext cx="1800000" cy="18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27F3E8-CEB1-1345-7375-6E3A25F69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100" y="2681779"/>
            <a:ext cx="1800000" cy="18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CA0C14-997D-FD1B-26A0-2E905D669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100" y="4676785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4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8A42-2D9F-7970-0253-A587F1F3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F6A-4D73-3793-8179-93E439783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sz="2400" b="1" dirty="0"/>
              <a:t>Existing Platforms</a:t>
            </a:r>
          </a:p>
          <a:p>
            <a:r>
              <a:rPr lang="en-IN" sz="2400" dirty="0">
                <a:hlinkClick r:id="rId2"/>
              </a:rPr>
              <a:t>ASI Website </a:t>
            </a:r>
            <a:endParaRPr lang="en-IN" sz="2400" dirty="0"/>
          </a:p>
          <a:p>
            <a:r>
              <a:rPr lang="en-IN" sz="2400" dirty="0">
                <a:hlinkClick r:id="rId3"/>
              </a:rPr>
              <a:t>Wikipedia</a:t>
            </a:r>
            <a:r>
              <a:rPr lang="en-IN" sz="2400" dirty="0"/>
              <a:t> </a:t>
            </a:r>
          </a:p>
          <a:p>
            <a:r>
              <a:rPr lang="en-IN" sz="2400" dirty="0">
                <a:hlinkClick r:id="rId4"/>
              </a:rPr>
              <a:t>UNESCO Portal </a:t>
            </a:r>
            <a:endParaRPr lang="en-IN" sz="2400" dirty="0"/>
          </a:p>
          <a:p>
            <a:r>
              <a:rPr lang="en-IN" sz="2400" dirty="0">
                <a:hlinkClick r:id="rId5"/>
              </a:rPr>
              <a:t>Google Arts &amp; Culture </a:t>
            </a:r>
            <a:endParaRPr lang="en-IN" sz="2400" dirty="0"/>
          </a:p>
          <a:p>
            <a:pPr marL="50800" indent="0">
              <a:buNone/>
            </a:pPr>
            <a:r>
              <a:rPr lang="en-IN" sz="2400" b="1" dirty="0"/>
              <a:t>Characteristics</a:t>
            </a:r>
          </a:p>
          <a:p>
            <a:r>
              <a:rPr lang="en-IN" sz="2400" dirty="0"/>
              <a:t>Information spread across multiple websites </a:t>
            </a:r>
          </a:p>
          <a:p>
            <a:r>
              <a:rPr lang="en-IN" sz="2400" dirty="0"/>
              <a:t>Mostly keyword-based search </a:t>
            </a:r>
          </a:p>
          <a:p>
            <a:r>
              <a:rPr lang="en-IN" sz="2400" dirty="0"/>
              <a:t>No conversational interface </a:t>
            </a:r>
          </a:p>
          <a:p>
            <a:r>
              <a:rPr lang="en-IN" sz="2400" dirty="0"/>
              <a:t>Limited integration between sources </a:t>
            </a:r>
          </a:p>
          <a:p>
            <a:r>
              <a:rPr lang="en-IN" sz="2400" dirty="0"/>
              <a:t>Difficult to compare information from different repositories</a:t>
            </a: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8DD35-B0EB-7325-EAE9-28C8508342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23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6878-F746-E5DD-4C74-69372361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Existing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B9138-EA60-D1D3-BFA9-3A48CB0A6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Information scattered across multiple platforms. </a:t>
            </a:r>
          </a:p>
          <a:p>
            <a:r>
              <a:rPr lang="en-IN" dirty="0"/>
              <a:t>No unified knowledge base. </a:t>
            </a:r>
          </a:p>
          <a:p>
            <a:r>
              <a:rPr lang="en-IN" dirty="0"/>
              <a:t>AI systems may generate hallucinated responses. </a:t>
            </a:r>
          </a:p>
          <a:p>
            <a:r>
              <a:rPr lang="en-IN" dirty="0"/>
              <a:t>Limited citation-backed answers. </a:t>
            </a:r>
          </a:p>
          <a:p>
            <a:r>
              <a:rPr lang="en-IN" dirty="0"/>
              <a:t>No interactive geographic exploration. </a:t>
            </a:r>
          </a:p>
          <a:p>
            <a:r>
              <a:rPr lang="en-IN" dirty="0"/>
              <a:t>No semantic or natural language search. </a:t>
            </a:r>
          </a:p>
          <a:p>
            <a:r>
              <a:rPr lang="en-IN" dirty="0"/>
              <a:t>Difficult for users to verify information. </a:t>
            </a:r>
          </a:p>
          <a:p>
            <a:r>
              <a:rPr lang="en-IN" dirty="0"/>
              <a:t>Time-consuming manual research.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D88E8-D6B2-BD62-1E2B-CEB846F02A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51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E3F3-E5F4-57F9-6C3A-7D536A6B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CABD3-0EFA-B7DE-6113-9E70517F2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dirty="0"/>
              <a:t>Arkana is an AI-powered Retrieval-Augmented Generation (RAG) platform for exploring India's cultural heritage.</a:t>
            </a:r>
          </a:p>
          <a:p>
            <a:pPr marL="5080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Citation-grounded conversational AI. </a:t>
            </a:r>
          </a:p>
          <a:p>
            <a:r>
              <a:rPr lang="en-IN" dirty="0"/>
              <a:t>Interactive heritage atlas using Leaflet.js. </a:t>
            </a:r>
          </a:p>
          <a:p>
            <a:r>
              <a:rPr lang="en-IN" dirty="0"/>
              <a:t>Hybrid retrieval (Vector + BM25). </a:t>
            </a:r>
          </a:p>
          <a:p>
            <a:r>
              <a:rPr lang="en-IN" dirty="0"/>
              <a:t>Data integrated from Wikipedia, </a:t>
            </a:r>
            <a:r>
              <a:rPr lang="en-IN" dirty="0" err="1"/>
              <a:t>Wikidata</a:t>
            </a:r>
            <a:r>
              <a:rPr lang="en-IN" dirty="0"/>
              <a:t>, UNESCO and OSM. </a:t>
            </a:r>
          </a:p>
          <a:p>
            <a:r>
              <a:rPr lang="en-IN" dirty="0"/>
              <a:t>Image-based artifact identification. </a:t>
            </a:r>
          </a:p>
          <a:p>
            <a:r>
              <a:rPr lang="en-IN" dirty="0"/>
              <a:t>Accurate, transparent, and explainable responses.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5B146-2D6B-FE8C-1CBE-A09F90B2B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159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7A20D-2B7C-3B7C-B6A4-29531484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Proposed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16934-1345-EE4A-6127-E602FAE14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Reliable and citation-backed responses. </a:t>
            </a:r>
          </a:p>
          <a:p>
            <a:r>
              <a:rPr lang="en-IN" dirty="0"/>
              <a:t>Reduces AI hallucinations using RAG. </a:t>
            </a:r>
          </a:p>
          <a:p>
            <a:r>
              <a:rPr lang="en-IN" dirty="0"/>
              <a:t>Unified access to multiple heritage sources. </a:t>
            </a:r>
          </a:p>
          <a:p>
            <a:r>
              <a:rPr lang="en-IN" dirty="0"/>
              <a:t>Natural language question answering. </a:t>
            </a:r>
          </a:p>
          <a:p>
            <a:r>
              <a:rPr lang="en-IN" dirty="0"/>
              <a:t>Interactive map-based exploration. </a:t>
            </a:r>
          </a:p>
          <a:p>
            <a:r>
              <a:rPr lang="en-IN" dirty="0"/>
              <a:t>Fast semantic search with hybrid retrieval. </a:t>
            </a:r>
          </a:p>
          <a:p>
            <a:r>
              <a:rPr lang="en-IN" dirty="0"/>
              <a:t>Supports education, tourism, and research. </a:t>
            </a:r>
          </a:p>
          <a:p>
            <a:r>
              <a:rPr lang="en-IN" dirty="0"/>
              <a:t>Scalable and easy to extend with new data sources.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ED37D-264C-C03B-6CB2-547D2293A4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8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Phase</a:t>
            </a:r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DA2952-2FCC-DAA6-AAA2-420343D36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11" y="1255267"/>
            <a:ext cx="9313377" cy="55256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D8E0-51C0-137F-7379-9DB0DB68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8AB86-118F-783D-C449-BC22412C6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dirty="0"/>
              <a:t>Develop a simple, responsive, and interactive user interface.</a:t>
            </a:r>
          </a:p>
          <a:p>
            <a:pPr marL="50800" indent="0">
              <a:buNone/>
            </a:pPr>
            <a:r>
              <a:rPr lang="en-IN" b="1" dirty="0"/>
              <a:t>Key Features</a:t>
            </a:r>
          </a:p>
          <a:p>
            <a:r>
              <a:rPr lang="en-IN" dirty="0"/>
              <a:t>React + Vite Single Page Application </a:t>
            </a:r>
          </a:p>
          <a:p>
            <a:r>
              <a:rPr lang="en-IN" dirty="0"/>
              <a:t>Conversational AI chat interface </a:t>
            </a:r>
          </a:p>
          <a:p>
            <a:r>
              <a:rPr lang="en-IN" dirty="0"/>
              <a:t>Interactive Leaflet.js heritage atlas </a:t>
            </a:r>
          </a:p>
          <a:p>
            <a:r>
              <a:rPr lang="en-IN" dirty="0"/>
              <a:t>Filters by state and heritage type </a:t>
            </a:r>
          </a:p>
          <a:p>
            <a:r>
              <a:rPr lang="en-IN" dirty="0"/>
              <a:t>Site detail panels </a:t>
            </a:r>
          </a:p>
          <a:p>
            <a:r>
              <a:rPr lang="en-IN" dirty="0"/>
              <a:t>Responsive and user-friendly design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CEC83-06FC-D0BD-48A2-A1CA8B8766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63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A245-8FEF-5571-D0C3-24DA0E1B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8C4BC-08B8-21D2-41B8-7ED3A98AF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b="1" dirty="0"/>
              <a:t>Technologies</a:t>
            </a:r>
          </a:p>
          <a:p>
            <a:r>
              <a:rPr lang="en-IN" dirty="0"/>
              <a:t>PostgreSQL + </a:t>
            </a:r>
            <a:r>
              <a:rPr lang="en-IN" dirty="0" err="1"/>
              <a:t>PostGIS</a:t>
            </a:r>
            <a:r>
              <a:rPr lang="en-IN" dirty="0"/>
              <a:t> </a:t>
            </a:r>
          </a:p>
          <a:p>
            <a:r>
              <a:rPr lang="en-IN" dirty="0" err="1"/>
              <a:t>ChromaDB</a:t>
            </a:r>
            <a:r>
              <a:rPr lang="en-IN" dirty="0"/>
              <a:t> </a:t>
            </a:r>
          </a:p>
          <a:p>
            <a:r>
              <a:rPr lang="en-IN" dirty="0"/>
              <a:t>Redis </a:t>
            </a:r>
          </a:p>
          <a:p>
            <a:pPr marL="50800" indent="0">
              <a:buNone/>
            </a:pPr>
            <a:r>
              <a:rPr lang="en-IN" b="1" dirty="0"/>
              <a:t>Design Features</a:t>
            </a:r>
          </a:p>
          <a:p>
            <a:r>
              <a:rPr lang="en-IN" dirty="0"/>
              <a:t>Stores heritage site information </a:t>
            </a:r>
          </a:p>
          <a:p>
            <a:r>
              <a:rPr lang="en-IN" dirty="0"/>
              <a:t>Spatial indexing using </a:t>
            </a:r>
            <a:r>
              <a:rPr lang="en-IN" dirty="0" err="1"/>
              <a:t>GiST</a:t>
            </a:r>
            <a:r>
              <a:rPr lang="en-IN" dirty="0"/>
              <a:t> </a:t>
            </a:r>
          </a:p>
          <a:p>
            <a:r>
              <a:rPr lang="en-IN" dirty="0"/>
              <a:t>Full-text search support </a:t>
            </a:r>
          </a:p>
          <a:p>
            <a:r>
              <a:rPr lang="en-IN" dirty="0"/>
              <a:t>Vector embeddings for semantic retrieval </a:t>
            </a:r>
          </a:p>
          <a:p>
            <a:r>
              <a:rPr lang="en-IN" dirty="0"/>
              <a:t>Caching for improved performance </a:t>
            </a:r>
          </a:p>
          <a:p>
            <a:r>
              <a:rPr lang="en-IN" dirty="0"/>
              <a:t>Unified </a:t>
            </a:r>
            <a:r>
              <a:rPr lang="en-IN" dirty="0" err="1"/>
              <a:t>Pydantic</a:t>
            </a:r>
            <a:r>
              <a:rPr lang="en-IN" dirty="0"/>
              <a:t> data schema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B6BB5-51ED-5460-1775-A21A4CE2F3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619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68F1-51AB-5AFE-DF04-1F5AE981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5514C-28E9-87A3-43BF-EAC9B89E3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b="1" dirty="0"/>
              <a:t>Five Core Modules</a:t>
            </a:r>
          </a:p>
          <a:p>
            <a:r>
              <a:rPr lang="en-IN" dirty="0"/>
              <a:t>Data Ingestion </a:t>
            </a:r>
          </a:p>
          <a:p>
            <a:r>
              <a:rPr lang="en-IN" dirty="0"/>
              <a:t>ETL Processing </a:t>
            </a:r>
          </a:p>
          <a:p>
            <a:r>
              <a:rPr lang="en-IN" dirty="0"/>
              <a:t>AI/RAG Engine </a:t>
            </a:r>
          </a:p>
          <a:p>
            <a:r>
              <a:rPr lang="en-IN" dirty="0" err="1"/>
              <a:t>FastAPI</a:t>
            </a:r>
            <a:r>
              <a:rPr lang="en-IN" dirty="0"/>
              <a:t> Backend </a:t>
            </a:r>
          </a:p>
          <a:p>
            <a:r>
              <a:rPr lang="en-IN" dirty="0"/>
              <a:t>React Frontend </a:t>
            </a:r>
          </a:p>
          <a:p>
            <a:pPr marL="50800" indent="0">
              <a:buNone/>
            </a:pPr>
            <a:r>
              <a:rPr lang="en-IN" b="1" dirty="0"/>
              <a:t>Responsibilities</a:t>
            </a:r>
          </a:p>
          <a:p>
            <a:r>
              <a:rPr lang="en-IN" dirty="0"/>
              <a:t>Collect and clean data </a:t>
            </a:r>
          </a:p>
          <a:p>
            <a:r>
              <a:rPr lang="en-IN" dirty="0"/>
              <a:t>Generate embeddings </a:t>
            </a:r>
          </a:p>
          <a:p>
            <a:r>
              <a:rPr lang="en-IN" dirty="0"/>
              <a:t>Retrieve relevant information </a:t>
            </a:r>
          </a:p>
          <a:p>
            <a:r>
              <a:rPr lang="en-IN" dirty="0"/>
              <a:t>Generate citation-backed responses </a:t>
            </a:r>
          </a:p>
          <a:p>
            <a:r>
              <a:rPr lang="en-IN" dirty="0"/>
              <a:t>Display results through web interface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98311-6E9D-CD15-A389-7F265F60D9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717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35AE-9089-D8E7-9744-5EFB2CFE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F01D1-1D53-4594-140F-CBBA68E74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2"/>
          <a:lstStyle/>
          <a:p>
            <a:r>
              <a:rPr lang="en-IN" sz="2400" b="1" dirty="0"/>
              <a:t>RAG Pipeline</a:t>
            </a:r>
          </a:p>
          <a:p>
            <a:pPr marL="50800" indent="0">
              <a:buNone/>
            </a:pPr>
            <a:r>
              <a:rPr lang="en-IN" sz="2400" dirty="0"/>
              <a:t>User Query</a:t>
            </a:r>
          </a:p>
          <a:p>
            <a:pPr marL="50800" indent="0">
              <a:buNone/>
            </a:pPr>
            <a:r>
              <a:rPr lang="en-IN" sz="2400" dirty="0"/>
              <a:t>↓</a:t>
            </a:r>
          </a:p>
          <a:p>
            <a:pPr marL="50800" indent="0">
              <a:buNone/>
            </a:pPr>
            <a:r>
              <a:rPr lang="en-IN" sz="2400" dirty="0"/>
              <a:t>Dense Embedding + BM25 Retrieval</a:t>
            </a:r>
          </a:p>
          <a:p>
            <a:pPr marL="50800" indent="0">
              <a:buNone/>
            </a:pPr>
            <a:r>
              <a:rPr lang="en-IN" sz="2400" dirty="0"/>
              <a:t>↓</a:t>
            </a:r>
          </a:p>
          <a:p>
            <a:pPr marL="50800" indent="0">
              <a:buNone/>
            </a:pPr>
            <a:r>
              <a:rPr lang="en-IN" sz="2400" dirty="0"/>
              <a:t>Reciprocal Rank Fusion (RRF)</a:t>
            </a:r>
          </a:p>
          <a:p>
            <a:pPr marL="50800" indent="0">
              <a:buNone/>
            </a:pPr>
            <a:r>
              <a:rPr lang="en-IN" sz="2400" dirty="0"/>
              <a:t>↓</a:t>
            </a:r>
          </a:p>
          <a:p>
            <a:pPr marL="50800" indent="0">
              <a:buNone/>
            </a:pPr>
            <a:r>
              <a:rPr lang="en-IN" sz="2400" dirty="0"/>
              <a:t>Cross-Encoder Re-ranking</a:t>
            </a:r>
          </a:p>
          <a:p>
            <a:pPr marL="50800" indent="0">
              <a:buNone/>
            </a:pPr>
            <a:r>
              <a:rPr lang="en-IN" sz="2400" dirty="0"/>
              <a:t>↓</a:t>
            </a:r>
          </a:p>
          <a:p>
            <a:pPr marL="50800" indent="0">
              <a:buNone/>
            </a:pPr>
            <a:r>
              <a:rPr lang="en-IN" sz="2400" dirty="0"/>
              <a:t>Gemini LLM</a:t>
            </a:r>
          </a:p>
          <a:p>
            <a:pPr marL="50800" indent="0">
              <a:buNone/>
            </a:pPr>
            <a:r>
              <a:rPr lang="en-IN" sz="2400" dirty="0"/>
              <a:t>↓</a:t>
            </a:r>
          </a:p>
          <a:p>
            <a:pPr marL="50800" indent="0">
              <a:buNone/>
            </a:pPr>
            <a:r>
              <a:rPr lang="en-IN" sz="2400" dirty="0"/>
              <a:t>Citation-Grounded Response</a:t>
            </a:r>
          </a:p>
          <a:p>
            <a:pPr marL="50800" indent="0">
              <a:buNone/>
            </a:pPr>
            <a:r>
              <a:rPr lang="en-IN" sz="2400" b="1" dirty="0"/>
              <a:t>Additional Components</a:t>
            </a:r>
          </a:p>
          <a:p>
            <a:r>
              <a:rPr lang="en-IN" sz="2400" dirty="0" err="1"/>
              <a:t>RapidFuzz</a:t>
            </a:r>
            <a:r>
              <a:rPr lang="en-IN" sz="2400" dirty="0"/>
              <a:t> Deduplication </a:t>
            </a:r>
          </a:p>
          <a:p>
            <a:r>
              <a:rPr lang="en-IN" sz="2400" dirty="0"/>
              <a:t>CLIP-based Artifact Classification </a:t>
            </a:r>
          </a:p>
          <a:p>
            <a:r>
              <a:rPr lang="en-IN" sz="2400" dirty="0"/>
              <a:t>Semantic Search </a:t>
            </a:r>
          </a:p>
          <a:p>
            <a:r>
              <a:rPr lang="en-IN" sz="2400" dirty="0"/>
              <a:t>Streamed AI Responses</a:t>
            </a: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B73BA-D586-4737-5943-3FDC6B90FD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21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E48F-3EA7-B419-3F3C-82321CC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B4E8E-F56C-E763-3D09-AF0244C5D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92900"/>
            <a:ext cx="11360700" cy="4672200"/>
          </a:xfrm>
        </p:spPr>
        <p:txBody>
          <a:bodyPr/>
          <a:lstStyle/>
          <a:p>
            <a:r>
              <a:rPr lang="en-IN" dirty="0"/>
              <a:t>Arkana provides an AI-powered, citation-grounded platform for exploring India's historical and cultural heritage.</a:t>
            </a:r>
          </a:p>
          <a:p>
            <a:r>
              <a:rPr lang="en-IN" dirty="0"/>
              <a:t>By combining RAG with trusted sources such as Wikipedia, </a:t>
            </a:r>
            <a:r>
              <a:rPr lang="en-IN" dirty="0" err="1"/>
              <a:t>Wikidata</a:t>
            </a:r>
            <a:r>
              <a:rPr lang="en-IN" dirty="0"/>
              <a:t>, UNESCO, and OpenStreetMap, it delivers accurate and verifiable information.</a:t>
            </a:r>
          </a:p>
          <a:p>
            <a:r>
              <a:rPr lang="en-IN" dirty="0"/>
              <a:t>The interactive geographic atlas and natural-language interface make heritage exploration simple and engaging.</a:t>
            </a:r>
          </a:p>
          <a:p>
            <a:r>
              <a:rPr lang="en-IN" dirty="0"/>
              <a:t>The project supports education, cultural preservation, tourism, and research, while aligning with SDGs 4, 11, and 17.</a:t>
            </a:r>
          </a:p>
          <a:p>
            <a:r>
              <a:rPr lang="en-IN" dirty="0"/>
              <a:t>In the future, Arkana can be expanded with additional data sources, multilingual support, and enhanced AI capabilities to make India's heritage more accessible to everyone.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9D7A3-32CD-08A3-BCA0-95D1F4D9F8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820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981</Words>
  <Application>Microsoft Office PowerPoint</Application>
  <PresentationFormat>Widescreen</PresentationFormat>
  <Paragraphs>146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Archivo Narrow Medium</vt:lpstr>
      <vt:lpstr>IBM Plex Sans Condensed</vt:lpstr>
      <vt:lpstr>Georgia</vt:lpstr>
      <vt:lpstr>Archivo Narrow</vt:lpstr>
      <vt:lpstr>Arial</vt:lpstr>
      <vt:lpstr>Times New Roman</vt:lpstr>
      <vt:lpstr>Yellowtail</vt:lpstr>
      <vt:lpstr>Calibri</vt:lpstr>
      <vt:lpstr>Simple Light</vt:lpstr>
      <vt:lpstr>Arkana - Grounded AI for Historical and Cultural Exploration</vt:lpstr>
      <vt:lpstr>Introduction</vt:lpstr>
      <vt:lpstr>Analysis Phase</vt:lpstr>
      <vt:lpstr>SDG Goals</vt:lpstr>
      <vt:lpstr>Existing system </vt:lpstr>
      <vt:lpstr>Limitations of Existing System</vt:lpstr>
      <vt:lpstr>Proposed System</vt:lpstr>
      <vt:lpstr>Advantages of Proposed System</vt:lpstr>
      <vt:lpstr>Design Phase</vt:lpstr>
      <vt:lpstr>UI Design</vt:lpstr>
      <vt:lpstr>Database Design</vt:lpstr>
      <vt:lpstr>Module Design</vt:lpstr>
      <vt:lpstr>Algorithm Design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NILESH</dc:creator>
  <cp:lastModifiedBy>shuvamgupta4444@outlook.com</cp:lastModifiedBy>
  <cp:revision>6</cp:revision>
  <dcterms:modified xsi:type="dcterms:W3CDTF">2026-07-03T14:37:59Z</dcterms:modified>
</cp:coreProperties>
</file>