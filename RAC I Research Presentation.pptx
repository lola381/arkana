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Archivo Narrow"/>
      <p:regular r:id="rId18"/>
      <p:bold r:id="rId19"/>
      <p:italic r:id="rId20"/>
      <p:boldItalic r:id="rId21"/>
    </p:embeddedFont>
    <p:embeddedFont>
      <p:font typeface="Yellowtail"/>
      <p:regular r:id="rId22"/>
    </p:embeddedFont>
    <p:embeddedFont>
      <p:font typeface="Archivo Narrow Medium"/>
      <p:regular r:id="rId23"/>
      <p:bold r:id="rId24"/>
      <p:italic r:id="rId25"/>
      <p:boldItalic r:id="rId26"/>
    </p:embeddedFont>
    <p:embeddedFont>
      <p:font typeface="IBM Plex Sans Condense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tF1mLFdj+mHFHN/dWP0Kbtaue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34898-65CF-403C-9500-0751E2C4CA05}">
  <a:tblStyle styleId="{63734898-65CF-403C-9500-0751E2C4CA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Narrow-italic.fntdata"/><Relationship Id="rId22" Type="http://schemas.openxmlformats.org/officeDocument/2006/relationships/font" Target="fonts/Yellowtail-regular.fntdata"/><Relationship Id="rId21" Type="http://schemas.openxmlformats.org/officeDocument/2006/relationships/font" Target="fonts/ArchivoNarrow-boldItalic.fntdata"/><Relationship Id="rId24" Type="http://schemas.openxmlformats.org/officeDocument/2006/relationships/font" Target="fonts/ArchivoNarrowMedium-bold.fntdata"/><Relationship Id="rId23" Type="http://schemas.openxmlformats.org/officeDocument/2006/relationships/font" Target="fonts/ArchivoNarrow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chivoNarrowMedium-boldItalic.fntdata"/><Relationship Id="rId25" Type="http://schemas.openxmlformats.org/officeDocument/2006/relationships/font" Target="fonts/ArchivoNarrowMedium-italic.fntdata"/><Relationship Id="rId28" Type="http://schemas.openxmlformats.org/officeDocument/2006/relationships/font" Target="fonts/IBMPlexSansCondensed-bold.fntdata"/><Relationship Id="rId27" Type="http://schemas.openxmlformats.org/officeDocument/2006/relationships/font" Target="fonts/IBMPlexSansCondense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Condense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IBMPlexSansCondense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chivoNarrow-bold.fntdata"/><Relationship Id="rId18" Type="http://schemas.openxmlformats.org/officeDocument/2006/relationships/font" Target="fonts/Archivo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50a7e06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250a7e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50a7e064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f250a7e0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50a7e064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250a7e0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50a7e064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250a7e06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50a7e064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250a7e06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50a7e06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250a7e06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50a7e064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250a7e06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11700" y="1415098"/>
            <a:ext cx="8520525" cy="13821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1700" y="2834125"/>
            <a:ext cx="8520525" cy="79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-7088" y="-22763"/>
            <a:ext cx="9156825" cy="5528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-6994" y="115556"/>
            <a:ext cx="9162450" cy="961875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8072663" y="-22763"/>
            <a:ext cx="651600" cy="110025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2" name="Google Shape;22;p10"/>
          <p:cNvSpPr/>
          <p:nvPr/>
        </p:nvSpPr>
        <p:spPr>
          <a:xfrm>
            <a:off x="5785500" y="-22763"/>
            <a:ext cx="2881350" cy="1116675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" name="Google Shape;23;p10"/>
          <p:cNvSpPr/>
          <p:nvPr/>
        </p:nvSpPr>
        <p:spPr>
          <a:xfrm>
            <a:off x="-6994" y="4953389"/>
            <a:ext cx="9162450" cy="19485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10"/>
          <p:cNvSpPr/>
          <p:nvPr/>
        </p:nvSpPr>
        <p:spPr>
          <a:xfrm>
            <a:off x="-6994" y="4424681"/>
            <a:ext cx="9162450" cy="552825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10"/>
          <p:cNvSpPr txBox="1"/>
          <p:nvPr/>
        </p:nvSpPr>
        <p:spPr>
          <a:xfrm>
            <a:off x="285750" y="4424681"/>
            <a:ext cx="2857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1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11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6" name="Google Shape;26;p10"/>
          <p:cNvSpPr txBox="1"/>
          <p:nvPr/>
        </p:nvSpPr>
        <p:spPr>
          <a:xfrm>
            <a:off x="3143250" y="4424681"/>
            <a:ext cx="2857500" cy="4502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1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11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27" name="Google Shape;27;p10"/>
          <p:cNvSpPr txBox="1"/>
          <p:nvPr/>
        </p:nvSpPr>
        <p:spPr>
          <a:xfrm>
            <a:off x="6429450" y="4424681"/>
            <a:ext cx="22374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1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11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" sz="9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9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28" name="Google Shape;28;p10" title="CU logo GBT_25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5546" y="247209"/>
            <a:ext cx="2338946" cy="7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311700" y="3688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311700" y="1064541"/>
            <a:ext cx="8520525" cy="350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3810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3810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3810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3810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11"/>
          <p:cNvSpPr txBox="1"/>
          <p:nvPr/>
        </p:nvSpPr>
        <p:spPr>
          <a:xfrm>
            <a:off x="8688881" y="4886325"/>
            <a:ext cx="399600" cy="21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311700" y="2150850"/>
            <a:ext cx="8520525" cy="841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11700" y="1152469"/>
            <a:ext cx="3999825" cy="35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832400" y="1152469"/>
            <a:ext cx="3999825" cy="35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3"/>
          <p:cNvSpPr/>
          <p:nvPr/>
        </p:nvSpPr>
        <p:spPr>
          <a:xfrm rot="10800000">
            <a:off x="-2125" y="-19"/>
            <a:ext cx="9155025" cy="2736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311700" y="555600"/>
            <a:ext cx="5308650" cy="7557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311700" y="1389600"/>
            <a:ext cx="2808000" cy="31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title"/>
          </p:nvPr>
        </p:nvSpPr>
        <p:spPr>
          <a:xfrm>
            <a:off x="490250" y="450150"/>
            <a:ext cx="6367725" cy="409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4572000" y="204113"/>
            <a:ext cx="4572000" cy="46023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/>
          <p:nvPr>
            <p:ph type="title"/>
          </p:nvPr>
        </p:nvSpPr>
        <p:spPr>
          <a:xfrm>
            <a:off x="265500" y="1233175"/>
            <a:ext cx="4045275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9pPr>
          </a:lstStyle>
          <a:p/>
        </p:txBody>
      </p:sp>
      <p:sp>
        <p:nvSpPr>
          <p:cNvPr id="56" name="Google Shape;56;p17"/>
          <p:cNvSpPr txBox="1"/>
          <p:nvPr>
            <p:ph idx="1" type="subTitle"/>
          </p:nvPr>
        </p:nvSpPr>
        <p:spPr>
          <a:xfrm>
            <a:off x="265500" y="2803075"/>
            <a:ext cx="4045275" cy="12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939500" y="724075"/>
            <a:ext cx="3836925" cy="3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11700" y="4329994"/>
            <a:ext cx="5998725" cy="476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311700" y="1106125"/>
            <a:ext cx="8520525" cy="19635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311700" y="3152225"/>
            <a:ext cx="8520525" cy="13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518309" y="544463"/>
            <a:ext cx="7743825" cy="10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518309" y="1755098"/>
            <a:ext cx="7743825" cy="2673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/>
          </a:bodyPr>
          <a:lstStyle>
            <a:lvl1pPr indent="-314325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1350"/>
              <a:buChar char="▪"/>
              <a:defRPr/>
            </a:lvl1pPr>
            <a:lvl2pPr indent="-314325" lvl="1" marL="9144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252737" y="4661903"/>
            <a:ext cx="734400" cy="3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38787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017656"/>
            <a:ext cx="8520525" cy="3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b="0" i="0" sz="28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b="0" i="0" sz="26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8" name="Google Shape;8;p9"/>
          <p:cNvSpPr/>
          <p:nvPr/>
        </p:nvSpPr>
        <p:spPr>
          <a:xfrm>
            <a:off x="0" y="-7289"/>
            <a:ext cx="9144000" cy="1964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Google Shape;9;p9"/>
          <p:cNvSpPr/>
          <p:nvPr/>
        </p:nvSpPr>
        <p:spPr>
          <a:xfrm>
            <a:off x="0" y="4961663"/>
            <a:ext cx="9144000" cy="196425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0" name="Google Shape;10;p9"/>
          <p:cNvSpPr/>
          <p:nvPr/>
        </p:nvSpPr>
        <p:spPr>
          <a:xfrm>
            <a:off x="-38" y="4790475"/>
            <a:ext cx="9144000" cy="26505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1" name="Google Shape;11;p9"/>
          <p:cNvSpPr txBox="1"/>
          <p:nvPr/>
        </p:nvSpPr>
        <p:spPr>
          <a:xfrm rot="-462626">
            <a:off x="6618918" y="4778465"/>
            <a:ext cx="1368448" cy="3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2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2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2" name="Google Shape;12;p9"/>
          <p:cNvSpPr txBox="1"/>
          <p:nvPr/>
        </p:nvSpPr>
        <p:spPr>
          <a:xfrm rot="1419">
            <a:off x="4550894" y="4832517"/>
            <a:ext cx="2179800" cy="307754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1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10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3" name="Google Shape;13;p9"/>
          <p:cNvSpPr txBox="1"/>
          <p:nvPr>
            <p:ph idx="12" type="sldNum"/>
          </p:nvPr>
        </p:nvSpPr>
        <p:spPr>
          <a:xfrm>
            <a:off x="8415300" y="4806273"/>
            <a:ext cx="548775" cy="30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9" title="CU logo crest Gold.png"/>
          <p:cNvPicPr preferRelativeResize="0"/>
          <p:nvPr/>
        </p:nvPicPr>
        <p:blipFill rotWithShape="1">
          <a:blip r:embed="rId1">
            <a:alphaModFix amt="3000"/>
          </a:blip>
          <a:srcRect b="0" l="0" r="0" t="0"/>
          <a:stretch/>
        </p:blipFill>
        <p:spPr>
          <a:xfrm>
            <a:off x="6105188" y="1602301"/>
            <a:ext cx="2988495" cy="29766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50a7e064_0_0"/>
          <p:cNvSpPr txBox="1"/>
          <p:nvPr>
            <p:ph type="ctrTitle"/>
          </p:nvPr>
        </p:nvSpPr>
        <p:spPr>
          <a:xfrm>
            <a:off x="311700" y="1415098"/>
            <a:ext cx="85206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Research Progress Presentation - RAC I</a:t>
            </a:r>
            <a:endParaRPr/>
          </a:p>
        </p:txBody>
      </p:sp>
      <p:sp>
        <p:nvSpPr>
          <p:cNvPr id="77" name="Google Shape;77;g3f250a7e064_0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863"/>
              <a:buNone/>
            </a:pPr>
            <a:r>
              <a:rPr lang="en"/>
              <a:t>By - Vvedika Jain M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863"/>
              <a:buNone/>
            </a:pPr>
            <a:r>
              <a:rPr lang="en"/>
              <a:t>2340171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50a7e064_0_5"/>
          <p:cNvSpPr txBox="1"/>
          <p:nvPr>
            <p:ph idx="1" type="body"/>
          </p:nvPr>
        </p:nvSpPr>
        <p:spPr>
          <a:xfrm>
            <a:off x="887600" y="1593075"/>
            <a:ext cx="7219500" cy="16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Cloud-Integrated Acoustic Healthcare: Computational Frameworks, IoT, and Smart Data Management for Sound-Based Medical Systems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g3f250a7e064_0_5"/>
          <p:cNvSpPr txBox="1"/>
          <p:nvPr>
            <p:ph type="title"/>
          </p:nvPr>
        </p:nvSpPr>
        <p:spPr>
          <a:xfrm>
            <a:off x="237056" y="2941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800">
                <a:solidFill>
                  <a:schemeClr val="dk1"/>
                </a:solidFill>
              </a:rPr>
              <a:t>Title of the Research Paper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250a7e064_0_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Problem Statement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89" name="Google Shape;89;g3f250a7e064_0_16"/>
          <p:cNvSpPr txBox="1"/>
          <p:nvPr>
            <p:ph idx="1" type="body"/>
          </p:nvPr>
        </p:nvSpPr>
        <p:spPr>
          <a:xfrm>
            <a:off x="153080" y="803284"/>
            <a:ext cx="85206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04800" lvl="0" marL="3429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" sz="1600">
                <a:solidFill>
                  <a:schemeClr val="dk1"/>
                </a:solidFill>
              </a:rPr>
              <a:t>The Challenge: </a:t>
            </a:r>
            <a:r>
              <a:rPr lang="en" sz="1600">
                <a:solidFill>
                  <a:schemeClr val="dk1"/>
                </a:solidFill>
              </a:rPr>
              <a:t>Acoustic therapy is a proven, non-medicinal method for enhancing well-being which helping in stress relief, focus improvement, and pain management.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However, traditional therapies lack personalization, data-driven insight, and scalability.</a:t>
            </a:r>
            <a:endParaRPr sz="1600">
              <a:solidFill>
                <a:schemeClr val="dk1"/>
              </a:solidFill>
            </a:endParaRPr>
          </a:p>
          <a:p>
            <a:pPr indent="-304800" lvl="0" marL="3429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" sz="1600">
                <a:solidFill>
                  <a:schemeClr val="dk1"/>
                </a:solidFill>
              </a:rPr>
              <a:t>The Core Problem: </a:t>
            </a:r>
            <a:r>
              <a:rPr lang="en" sz="1600">
                <a:solidFill>
                  <a:schemeClr val="dk1"/>
                </a:solidFill>
              </a:rPr>
              <a:t>There’s currently no scalable platform that integrates real-time health data with cloud infrastructure to deliver and manage acoustic healthcare in a smart, accessible, and adaptable way.</a:t>
            </a:r>
            <a:endParaRPr sz="1600">
              <a:solidFill>
                <a:schemeClr val="dk1"/>
              </a:solidFill>
            </a:endParaRPr>
          </a:p>
          <a:p>
            <a:pPr indent="-304800" lvl="0" marL="3429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en" sz="1600">
                <a:solidFill>
                  <a:schemeClr val="dk1"/>
                </a:solidFill>
              </a:rPr>
              <a:t>The Opportunity: </a:t>
            </a:r>
            <a:r>
              <a:rPr lang="en" sz="1600">
                <a:solidFill>
                  <a:schemeClr val="dk1"/>
                </a:solidFill>
              </a:rPr>
              <a:t>With the rise of cloud computing and the Internet of Things (IoT), there is a growing opportunity to revolutionize how acoustic therapy is delivered and optimized.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50a7e064_0_11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800">
                <a:solidFill>
                  <a:schemeClr val="dk1"/>
                </a:solidFill>
              </a:rPr>
              <a:t>Objectives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5" name="Google Shape;95;g3f250a7e064_0_114"/>
          <p:cNvSpPr txBox="1"/>
          <p:nvPr>
            <p:ph idx="1" type="body"/>
          </p:nvPr>
        </p:nvSpPr>
        <p:spPr>
          <a:xfrm>
            <a:off x="153080" y="803284"/>
            <a:ext cx="85206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Primary Objective: </a:t>
            </a:r>
            <a:r>
              <a:rPr lang="en" sz="1600">
                <a:solidFill>
                  <a:schemeClr val="dk1"/>
                </a:solidFill>
              </a:rPr>
              <a:t>To design and develop a cloud-integrated acoustic healthcare framework that leverages IoT-based real-time health data to deliver personalized and scalable acoustic therapy services.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Secondary Objectives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To collect and manage real-time physiological and user-generated data using IoT devices and cloud infrastructure for effective monitoring and analysis of acoustic therapy outcomes.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To evaluate the effectiveness and scalability of the proposed system in enhancing therapy personalization, accessibility, and user well-being compared to traditional acoustic therapy approaches.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311700" y="3688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800">
                <a:solidFill>
                  <a:schemeClr val="dk1"/>
                </a:solidFill>
              </a:rPr>
              <a:t>Literature Review (Base Papers)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311700" y="1064541"/>
            <a:ext cx="8520525" cy="350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i="1" lang="en" sz="1300">
                <a:solidFill>
                  <a:schemeClr val="dk1"/>
                </a:solidFill>
              </a:rPr>
            </a:br>
            <a:endParaRPr/>
          </a:p>
        </p:txBody>
      </p:sp>
      <p:graphicFrame>
        <p:nvGraphicFramePr>
          <p:cNvPr id="102" name="Google Shape;102;p4"/>
          <p:cNvGraphicFramePr/>
          <p:nvPr/>
        </p:nvGraphicFramePr>
        <p:xfrm>
          <a:off x="553617" y="10529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{63734898-65CF-403C-9500-0751E2C4CA05}</a:tableStyleId>
              </a:tblPr>
              <a:tblGrid>
                <a:gridCol w="2357525"/>
                <a:gridCol w="1147675"/>
                <a:gridCol w="1185000"/>
                <a:gridCol w="3676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Title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Authors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Published in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Research</a:t>
                      </a: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 Gaps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 u="none" cap="none" strike="noStrike">
                          <a:solidFill>
                            <a:schemeClr val="dk1"/>
                          </a:solidFill>
                        </a:rPr>
                        <a:t>Automatic Emotion‑Based Music Classification for IoT Applications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Jin Seo and Jaehong Huh 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 u="none" cap="none" strike="noStrike">
                          <a:solidFill>
                            <a:schemeClr val="dk1"/>
                          </a:solidFill>
                        </a:rPr>
                        <a:t>Electronics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, MDPI (2019)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Does not use cloud computing, real-time processing, or scalable infrastructure. Data personalization and storage are not addressed.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100" u="none" cap="none" strike="noStrike"/>
                        <a:t>A Review of the Application of Acoustic Vibration for Therapeutic Use in Clinical and Home Settings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Electronics, MDPI (2019)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Discusses clinical benefits of acoustic vibration but does not address real-time data integration, cloud infrastructure, or personalization. Highlights the therapeutic value, creating a need for technology-enabled personalization and scalability.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100" u="none" cap="none" strike="noStrike"/>
                        <a:t>IoT-Based Health Monitoring System for Active and Assisted Living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Sensors, MDPI</a:t>
                      </a:r>
                      <a:r>
                        <a:rPr lang="en" sz="1100" u="none" cap="none" strike="noStrike"/>
                        <a:t> (2020)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Strong IoT data capture and cloud integration techniques for health monitoring—but not applied to acoustic therapy. This exposes a domain-specific gap: acoustic therapy is not yet integrated into smart IoT/cloud-based health frameworks.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1100" u="none" cap="none" strike="noStrike"/>
                        <a:t>Development of Wearable Vibroacoustic Devices for Sleep and Stress Management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Sensors, MDPI</a:t>
                      </a:r>
                      <a:r>
                        <a:rPr lang="en" sz="1100" u="none" cap="none" strike="noStrike"/>
                        <a:t> (2022)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Describes device-level innovations, but lacks a system-level framework (cloud + IoT + data processing). Demonstrates demand for a centralized data-driven management platform that can aggregate, analyze, and personalize therapy sessions.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250a7e064_0_21"/>
          <p:cNvSpPr txBox="1"/>
          <p:nvPr>
            <p:ph type="title"/>
          </p:nvPr>
        </p:nvSpPr>
        <p:spPr>
          <a:xfrm>
            <a:off x="377014" y="25685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800">
                <a:solidFill>
                  <a:schemeClr val="dk1"/>
                </a:solidFill>
              </a:rPr>
              <a:t>Research Methodology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8" name="Google Shape;108;g3f250a7e064_0_21"/>
          <p:cNvSpPr txBox="1"/>
          <p:nvPr>
            <p:ph idx="1" type="body"/>
          </p:nvPr>
        </p:nvSpPr>
        <p:spPr>
          <a:xfrm>
            <a:off x="311700" y="839755"/>
            <a:ext cx="8692200" cy="3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1. </a:t>
            </a:r>
            <a:r>
              <a:rPr b="1" lang="en" sz="1600">
                <a:solidFill>
                  <a:schemeClr val="dk1"/>
                </a:solidFill>
              </a:rPr>
              <a:t>Literature Review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Reviewed existing work on: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Acoustic &amp; vibroacoustic therapy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IoT-based health monitoring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Cloud computing in healthcare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→ Built the scientific and technological foundation.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2. </a:t>
            </a:r>
            <a:r>
              <a:rPr b="1" lang="en" sz="1600">
                <a:solidFill>
                  <a:schemeClr val="dk1"/>
                </a:solidFill>
              </a:rPr>
              <a:t>Gap Identification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Identified limitations in current acoustic therapy: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No personalization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No real-time data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No cloud scalability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Limited remote monitoring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→ Defined the research problem.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50a7e064_0_26"/>
          <p:cNvSpPr txBox="1"/>
          <p:nvPr>
            <p:ph idx="1" type="body"/>
          </p:nvPr>
        </p:nvSpPr>
        <p:spPr>
          <a:xfrm>
            <a:off x="257725" y="451225"/>
            <a:ext cx="4703100" cy="3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3. </a:t>
            </a:r>
            <a:r>
              <a:rPr b="1" lang="en" sz="1600">
                <a:solidFill>
                  <a:schemeClr val="dk1"/>
                </a:solidFill>
              </a:rPr>
              <a:t>Conceptual System Design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Outlined a high-level framework using: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Sensors &amp; wearables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Python-based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IoT communication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</a:rPr>
              <a:t>Cloud platforms (AWS/GCP)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→ Forms the core architecture of the proposed system.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4. </a:t>
            </a:r>
            <a:r>
              <a:rPr b="1" lang="en" sz="1600">
                <a:solidFill>
                  <a:schemeClr val="dk1"/>
                </a:solidFill>
              </a:rPr>
              <a:t>Technology Exploration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Explored role of: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Python → processing &amp; analytics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IoT → continuous data capture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Cloud → storage, scalability, ML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Wearables → physiological signal tracking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4" name="Google Shape;114;g3f250a7e064_0_26"/>
          <p:cNvSpPr txBox="1"/>
          <p:nvPr/>
        </p:nvSpPr>
        <p:spPr>
          <a:xfrm>
            <a:off x="5541600" y="2707950"/>
            <a:ext cx="31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endParaRPr sz="16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15" name="Google Shape;115;g3f250a7e064_0_26"/>
          <p:cNvSpPr txBox="1"/>
          <p:nvPr/>
        </p:nvSpPr>
        <p:spPr>
          <a:xfrm>
            <a:off x="5252250" y="1359250"/>
            <a:ext cx="3753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5.</a:t>
            </a:r>
            <a:r>
              <a:rPr b="1"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Comparative Analysis</a:t>
            </a:r>
            <a:endParaRPr b="1" sz="16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Analyzed existing solutions and trends:</a:t>
            </a:r>
            <a:endParaRPr sz="16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Brain.fm, Endel, Moodsonic</a:t>
            </a:r>
            <a:endParaRPr sz="16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 Condensed"/>
              <a:buChar char="●"/>
            </a:pP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Smart hospitals &amp; global adoption</a:t>
            </a:r>
            <a:b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</a:br>
            <a:r>
              <a:rPr lang="en" sz="16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→ Validates the need for a tech-enabled acoustic therapy system.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377014" y="256858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2800">
                <a:solidFill>
                  <a:schemeClr val="dk1"/>
                </a:solidFill>
              </a:rPr>
              <a:t>Overview of our Research and Progress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311700" y="839755"/>
            <a:ext cx="8692200" cy="3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600">
                <a:solidFill>
                  <a:schemeClr val="dk1"/>
                </a:solidFill>
              </a:rPr>
              <a:t>Introduction to Acoustic Healthcare </a:t>
            </a:r>
            <a:r>
              <a:rPr b="1" lang="en" sz="1600">
                <a:solidFill>
                  <a:srgbClr val="00B050"/>
                </a:solidFill>
              </a:rPr>
              <a:t>(Completed)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Acoustic therapy uses sound waves for non-invasive healing, relaxation, and pain relief.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Blends ancient traditions with modern science.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600">
                <a:solidFill>
                  <a:schemeClr val="dk1"/>
                </a:solidFill>
              </a:rPr>
              <a:t>Historical &amp; Traditional Roots </a:t>
            </a:r>
            <a:r>
              <a:rPr b="1" lang="en" sz="1600">
                <a:solidFill>
                  <a:srgbClr val="00B050"/>
                </a:solidFill>
              </a:rPr>
              <a:t>(Completed)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Ancient civilizations (Egypt, Greece, India, Tibet, Indigenous cultures) used sound for healing rituals and emotional influence.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600">
                <a:solidFill>
                  <a:schemeClr val="dk1"/>
                </a:solidFill>
              </a:rPr>
              <a:t>Scientific Foundations &amp; Modern Evolution </a:t>
            </a:r>
            <a:r>
              <a:rPr b="1" lang="en" sz="1600">
                <a:solidFill>
                  <a:srgbClr val="00B050"/>
                </a:solidFill>
              </a:rPr>
              <a:t>(Completed)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Early 20th century: Scientific exploration began with ultrasound technology.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Mid 20th century: Explored neurological impact (e.g., binaural beats for brainwave modulation).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Recent decades: Expanded to low-frequency sound, vibroacoustic, music therapy, and frequency-specific microcurrent therapy.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246850" y="277225"/>
            <a:ext cx="8813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2540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600">
                <a:solidFill>
                  <a:schemeClr val="dk1"/>
                </a:solidFill>
              </a:rPr>
              <a:t>Benefits of Sound-Based Healing </a:t>
            </a:r>
            <a:r>
              <a:rPr b="1" lang="en" sz="1600">
                <a:solidFill>
                  <a:srgbClr val="92D050"/>
                </a:solidFill>
              </a:rPr>
              <a:t>(Partially Completed) 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Physiological: Pain management, tissue regeneration, inflammation reduction, improved circulation, muscle relaxation.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Psychological/Emotional: Stress/anxiety reduction, mood enhancement, improved sleep quality, cognitive/neurological benefits.</a:t>
            </a:r>
            <a:endParaRPr sz="1600">
              <a:solidFill>
                <a:schemeClr val="dk1"/>
              </a:solidFill>
            </a:endParaRPr>
          </a:p>
          <a:p>
            <a:pPr indent="0" lvl="0" marL="2540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600">
                <a:solidFill>
                  <a:schemeClr val="dk1"/>
                </a:solidFill>
              </a:rPr>
              <a:t>Role of Technology in Enhancing Acoustic Healthcare </a:t>
            </a:r>
            <a:r>
              <a:rPr b="1" lang="en" sz="1600">
                <a:solidFill>
                  <a:srgbClr val="FF0000"/>
                </a:solidFill>
              </a:rPr>
              <a:t>(In Progress) </a:t>
            </a:r>
            <a:r>
              <a:rPr b="1" lang="en" sz="1600">
                <a:solidFill>
                  <a:schemeClr val="dk1"/>
                </a:solidFill>
              </a:rPr>
              <a:t>:</a:t>
            </a:r>
            <a:endParaRPr b="1"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Wearable Devices: Portable vibroacoustic systems (e.g., Resonate Pillow, Sound Oasis VTS-1000).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AI-Driven Platforms: Personalized soundscapes based on biometrics (e.g., Brain.fm, Endel).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Clinical Systems: Therapeutic ultrasound for targeted healing (e.g., Exogen, Zetroz sam®).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VR &amp; Sound Integration: Immersive environments for relaxation (e.g., HealiumXR).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Neuroacoustic Feedback: EEG-based systems for brainwave modulation (e.g., NeuroVizr).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Smartphone Apps: Accessible sound therapies (e.g., Tinnibot, Calm, Melomind).</a:t>
            </a:r>
            <a:endParaRPr sz="1600">
              <a:solidFill>
                <a:schemeClr val="dk1"/>
              </a:solidFill>
            </a:endParaRPr>
          </a:p>
          <a:p>
            <a:pPr indent="-31749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</a:rPr>
              <a:t>IoT-Enabled Beds: Real-time biometric-responsive sound modulation (e.g., Sleep Number 360 Smart Bed).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50a7e064_0_32"/>
          <p:cNvSpPr txBox="1"/>
          <p:nvPr/>
        </p:nvSpPr>
        <p:spPr>
          <a:xfrm>
            <a:off x="384775" y="260975"/>
            <a:ext cx="82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Conference Targets</a:t>
            </a:r>
            <a:endParaRPr b="1" sz="2800">
              <a:solidFill>
                <a:schemeClr val="dk1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132" name="Google Shape;132;g3f250a7e064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50" y="876575"/>
            <a:ext cx="4525102" cy="22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250a7e064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52" y="1028975"/>
            <a:ext cx="4174551" cy="203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759569" y="2178964"/>
            <a:ext cx="548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</a:pPr>
            <a:r>
              <a:rPr lang="en" sz="4800"/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